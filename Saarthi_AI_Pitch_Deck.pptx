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685800"/>
            <a:ext cx="1005840" cy="10058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4096" y="886968"/>
            <a:ext cx="603504" cy="6035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148840"/>
            <a:ext cx="12191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SAARTHI AI</a:t>
            </a:r>
            <a:endParaRPr lang="en-US" sz="5800" dirty="0"/>
          </a:p>
        </p:txBody>
      </p:sp>
      <p:sp>
        <p:nvSpPr>
          <p:cNvPr id="5" name="Text 2"/>
          <p:cNvSpPr/>
          <p:nvPr/>
        </p:nvSpPr>
        <p:spPr>
          <a:xfrm>
            <a:off x="0" y="30632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Personalized Digital Companion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889608" y="3611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7C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Students, Homemakers, Senior Citizens, and Small Business Owners through AI, Digital Literacy, and Scam Protection.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730752" y="5074920"/>
            <a:ext cx="585216" cy="585216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756" y="5153924"/>
            <a:ext cx="427208" cy="4272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108960" y="57332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7C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Amma Saarthi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111496" y="5074920"/>
            <a:ext cx="585216" cy="585216"/>
          </a:xfrm>
          <a:prstGeom prst="ellipse">
            <a:avLst/>
          </a:prstGeom>
          <a:solidFill>
            <a:srgbClr val="D2503A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0500" y="5153924"/>
            <a:ext cx="427208" cy="4272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489704" y="57332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7C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Sharmaji Saarthi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6492240" y="5074920"/>
            <a:ext cx="585216" cy="585216"/>
          </a:xfrm>
          <a:prstGeom prst="ellipse">
            <a:avLst/>
          </a:prstGeom>
          <a:solidFill>
            <a:srgbClr val="3F8C82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1244" y="5153924"/>
            <a:ext cx="427208" cy="4272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870448" y="57332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7C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Saarthi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7872984" y="5074920"/>
            <a:ext cx="585216" cy="585216"/>
          </a:xfrm>
          <a:prstGeom prst="ellipse">
            <a:avLst/>
          </a:prstGeom>
          <a:solidFill>
            <a:srgbClr val="6759A8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1988" y="5153924"/>
            <a:ext cx="427208" cy="42720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251192" y="57332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7C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Saarthi</a:t>
            </a:r>
            <a:endParaRPr lang="en-US" sz="1150" dirty="0"/>
          </a:p>
        </p:txBody>
      </p:sp>
      <p:sp>
        <p:nvSpPr>
          <p:cNvPr id="19" name="Shape 12"/>
          <p:cNvSpPr/>
          <p:nvPr/>
        </p:nvSpPr>
        <p:spPr>
          <a:xfrm>
            <a:off x="4315968" y="5367528"/>
            <a:ext cx="795528" cy="0"/>
          </a:xfrm>
          <a:prstGeom prst="line">
            <a:avLst/>
          </a:prstGeom>
          <a:noFill/>
          <a:ln w="12700">
            <a:solidFill>
              <a:srgbClr val="E8A33D"/>
            </a:solidFill>
            <a:prstDash val="sysDot"/>
          </a:ln>
        </p:spPr>
      </p:sp>
      <p:sp>
        <p:nvSpPr>
          <p:cNvPr id="20" name="Shape 13"/>
          <p:cNvSpPr/>
          <p:nvPr/>
        </p:nvSpPr>
        <p:spPr>
          <a:xfrm>
            <a:off x="5696712" y="5367528"/>
            <a:ext cx="795528" cy="0"/>
          </a:xfrm>
          <a:prstGeom prst="line">
            <a:avLst/>
          </a:prstGeom>
          <a:noFill/>
          <a:ln w="12700">
            <a:solidFill>
              <a:srgbClr val="E8A33D"/>
            </a:solidFill>
            <a:prstDash val="sysDot"/>
          </a:ln>
        </p:spPr>
      </p:sp>
      <p:sp>
        <p:nvSpPr>
          <p:cNvPr id="21" name="Shape 14"/>
          <p:cNvSpPr/>
          <p:nvPr/>
        </p:nvSpPr>
        <p:spPr>
          <a:xfrm>
            <a:off x="7077456" y="5367528"/>
            <a:ext cx="795528" cy="0"/>
          </a:xfrm>
          <a:prstGeom prst="line">
            <a:avLst/>
          </a:prstGeom>
          <a:noFill/>
          <a:ln w="12700">
            <a:solidFill>
              <a:srgbClr val="E8A33D"/>
            </a:solidFill>
            <a:prstDash val="sysDot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Everyday Struggles, One Missing Companion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India, the same people are underserved by fragmented, complicated digital tools.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5F4FB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28600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935" y="2362535"/>
            <a:ext cx="413857" cy="41385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26771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Homemakers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288036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 to discover and use government schemes, healthcare reminders, and digital services scattered across many platforms.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63640" y="201168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5F4FB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37960" y="2286000"/>
            <a:ext cx="566928" cy="566928"/>
          </a:xfrm>
          <a:prstGeom prst="ellipse">
            <a:avLst/>
          </a:prstGeom>
          <a:solidFill>
            <a:srgbClr val="D2503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495" y="2362535"/>
            <a:ext cx="413857" cy="41385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226771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Business Owners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537960" y="288036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Rely on manual tracking for bookkeeping, customer logs, and workforce management — with no easy digital tools.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" y="429768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5F4FB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14400" y="4572000"/>
            <a:ext cx="566928" cy="566928"/>
          </a:xfrm>
          <a:prstGeom prst="ellipse">
            <a:avLst/>
          </a:prstGeom>
          <a:solidFill>
            <a:srgbClr val="3F8C8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935" y="4648535"/>
            <a:ext cx="413857" cy="41385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45920" y="455371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Citizens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914400" y="516636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scams and technology barriers, needing a simple, trustworthy assistant instead of a complex app.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263640" y="429768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5F4FB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537960" y="4572000"/>
            <a:ext cx="566928" cy="566928"/>
          </a:xfrm>
          <a:prstGeom prst="ellipse">
            <a:avLst/>
          </a:prstGeom>
          <a:solidFill>
            <a:srgbClr val="6759A8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495" y="4648535"/>
            <a:ext cx="413857" cy="41385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69480" y="455371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6537960" y="516636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scholarships, internships, and personalized guidance while juggling notes, finances, and career planning.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AI Companion. Four Personas.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B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 are fragmented. Saarthi AI is the one companion that adapts to different personas and needs — guiding every citizen the way a personal saarthi guides a traveller.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10908792" cy="566928"/>
          </a:xfrm>
          <a:prstGeom prst="roundRect">
            <a:avLst>
              <a:gd name="adj" fmla="val 12903"/>
            </a:avLst>
          </a:prstGeom>
          <a:solidFill>
            <a:srgbClr val="1B1B3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3172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 →  FOUR PERSONAS  →  EVERY INDIAN CITIZEN GUIDED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377440" y="4251960"/>
            <a:ext cx="1813560" cy="0"/>
          </a:xfrm>
          <a:prstGeom prst="line">
            <a:avLst/>
          </a:prstGeom>
          <a:noFill/>
          <a:ln w="15875">
            <a:solidFill>
              <a:srgbClr val="8C8AA0"/>
            </a:solidFill>
            <a:prstDash val="sysDot"/>
          </a:ln>
        </p:spPr>
      </p:sp>
      <p:sp>
        <p:nvSpPr>
          <p:cNvPr id="8" name="Shape 6"/>
          <p:cNvSpPr/>
          <p:nvPr/>
        </p:nvSpPr>
        <p:spPr>
          <a:xfrm>
            <a:off x="5196840" y="4251960"/>
            <a:ext cx="1813560" cy="0"/>
          </a:xfrm>
          <a:prstGeom prst="line">
            <a:avLst/>
          </a:prstGeom>
          <a:noFill/>
          <a:ln w="15875">
            <a:solidFill>
              <a:srgbClr val="8C8AA0"/>
            </a:solidFill>
            <a:prstDash val="sysDot"/>
          </a:ln>
        </p:spPr>
      </p:sp>
      <p:sp>
        <p:nvSpPr>
          <p:cNvPr id="9" name="Shape 7"/>
          <p:cNvSpPr/>
          <p:nvPr/>
        </p:nvSpPr>
        <p:spPr>
          <a:xfrm>
            <a:off x="8016240" y="4251960"/>
            <a:ext cx="1813560" cy="0"/>
          </a:xfrm>
          <a:prstGeom prst="line">
            <a:avLst/>
          </a:prstGeom>
          <a:noFill/>
          <a:ln w="15875">
            <a:solidFill>
              <a:srgbClr val="8C8AA0"/>
            </a:solidFill>
            <a:prstDash val="sysDot"/>
          </a:ln>
        </p:spPr>
      </p:sp>
      <p:sp>
        <p:nvSpPr>
          <p:cNvPr id="10" name="Shape 8"/>
          <p:cNvSpPr/>
          <p:nvPr/>
        </p:nvSpPr>
        <p:spPr>
          <a:xfrm>
            <a:off x="1371600" y="3749040"/>
            <a:ext cx="1005840" cy="10058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7388" y="3884828"/>
            <a:ext cx="734263" cy="734263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31520" y="4864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Amma Saarthi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31520" y="5166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&amp; Home Guide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191000" y="3749040"/>
            <a:ext cx="1005840" cy="1005840"/>
          </a:xfrm>
          <a:prstGeom prst="ellipse">
            <a:avLst/>
          </a:prstGeom>
          <a:solidFill>
            <a:srgbClr val="D2503A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6788" y="3884828"/>
            <a:ext cx="734263" cy="73426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50920" y="4864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Sharmaji Saarthi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550920" y="5166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Business Partner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7010400" y="3749040"/>
            <a:ext cx="1005840" cy="1005840"/>
          </a:xfrm>
          <a:prstGeom prst="ellipse">
            <a:avLst/>
          </a:prstGeom>
          <a:solidFill>
            <a:srgbClr val="3F8C82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6188" y="3884828"/>
            <a:ext cx="734263" cy="73426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70320" y="4864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Saarthi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370320" y="5166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Companion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9829800" y="3749040"/>
            <a:ext cx="1005840" cy="1005840"/>
          </a:xfrm>
          <a:prstGeom prst="ellipse">
            <a:avLst/>
          </a:prstGeom>
          <a:solidFill>
            <a:srgbClr val="6759A8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5588" y="3884828"/>
            <a:ext cx="734263" cy="73426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189720" y="4864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Saarthi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9189720" y="5166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Coach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AGENTS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the Four Personas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257800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764792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8466" y="1838858"/>
            <a:ext cx="400507" cy="40050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27632" y="172821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Amma Saarthi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27632" y="20391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Family &amp; Home Guide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32688" y="2468880"/>
            <a:ext cx="47091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5B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Govt. Schemes Navigator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5B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&amp; Grocery AI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5B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Reminders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5B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Community Support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1508760"/>
            <a:ext cx="5257800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37960" y="1764792"/>
            <a:ext cx="548640" cy="548640"/>
          </a:xfrm>
          <a:prstGeom prst="ellipse">
            <a:avLst/>
          </a:prstGeom>
          <a:solidFill>
            <a:srgbClr val="D2503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026" y="1838858"/>
            <a:ext cx="400507" cy="40050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51192" y="172821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Sharmaji Saarthi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251192" y="20391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2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 Business Partner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556248" y="2468880"/>
            <a:ext cx="47091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5B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5B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Expense Log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5B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Tracking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5B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Wellness Dashboard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40080" y="4014216"/>
            <a:ext cx="5257800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14400" y="4270248"/>
            <a:ext cx="548640" cy="548640"/>
          </a:xfrm>
          <a:prstGeom prst="ellipse">
            <a:avLst/>
          </a:prstGeom>
          <a:solidFill>
            <a:srgbClr val="3F8C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466" y="4344314"/>
            <a:ext cx="400507" cy="40050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27632" y="423367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Saarthi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627632" y="45445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F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Trusted Companion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932688" y="4974336"/>
            <a:ext cx="47091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5B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&amp; Medical Reminders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5B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Management Aids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5B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Literacy Guide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5B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Assistant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263640" y="4014216"/>
            <a:ext cx="5257800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537960" y="4270248"/>
            <a:ext cx="548640" cy="548640"/>
          </a:xfrm>
          <a:prstGeom prst="ellipse">
            <a:avLst/>
          </a:prstGeom>
          <a:solidFill>
            <a:srgbClr val="6759A8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2026" y="4344314"/>
            <a:ext cx="400507" cy="40050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251192" y="423367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Saarthi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7251192" y="45445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75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Growth Coach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6556248" y="4974336"/>
            <a:ext cx="47091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5B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Coach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5B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Summarizer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5B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 &amp; Internship Finder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5B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Finance &amp; Career Navigator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CROSS-PERSONA INTELLIGENCE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&amp; Innovation Layer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intelligent core powers every persona, every conversation.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71600" y="2148840"/>
            <a:ext cx="914400" cy="914400"/>
          </a:xfrm>
          <a:prstGeom prst="ellipse">
            <a:avLst/>
          </a:prstGeom>
          <a:solidFill>
            <a:srgbClr val="1B1B3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5044" y="2272284"/>
            <a:ext cx="667512" cy="6675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17296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206240" y="2148840"/>
            <a:ext cx="914400" cy="914400"/>
          </a:xfrm>
          <a:prstGeom prst="ellipse">
            <a:avLst/>
          </a:prstGeom>
          <a:solidFill>
            <a:srgbClr val="1B1B3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9684" y="2272284"/>
            <a:ext cx="667512" cy="6675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03320" y="317296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040880" y="2148840"/>
            <a:ext cx="914400" cy="914400"/>
          </a:xfrm>
          <a:prstGeom prst="ellipse">
            <a:avLst/>
          </a:prstGeom>
          <a:solidFill>
            <a:srgbClr val="1B1B3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4324" y="2272284"/>
            <a:ext cx="667512" cy="6675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537960" y="317296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Assistance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9875520" y="2148840"/>
            <a:ext cx="914400" cy="914400"/>
          </a:xfrm>
          <a:prstGeom prst="ellipse">
            <a:avLst/>
          </a:prstGeom>
          <a:solidFill>
            <a:srgbClr val="1B1B3A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8964" y="2272284"/>
            <a:ext cx="667512" cy="66751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372600" y="317296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2834640" y="4251960"/>
            <a:ext cx="914400" cy="914400"/>
          </a:xfrm>
          <a:prstGeom prst="ellipse">
            <a:avLst/>
          </a:prstGeom>
          <a:solidFill>
            <a:srgbClr val="1B1B3A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8084" y="4375404"/>
            <a:ext cx="667512" cy="66751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2331720" y="527608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Summarization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5623560" y="4251960"/>
            <a:ext cx="914400" cy="914400"/>
          </a:xfrm>
          <a:prstGeom prst="ellipse">
            <a:avLst/>
          </a:prstGeom>
          <a:solidFill>
            <a:srgbClr val="1B1B3A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7004" y="4375404"/>
            <a:ext cx="667512" cy="66751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120640" y="527608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1200" dirty="0"/>
          </a:p>
        </p:txBody>
      </p:sp>
      <p:sp>
        <p:nvSpPr>
          <p:cNvPr id="23" name="Shape 15"/>
          <p:cNvSpPr/>
          <p:nvPr/>
        </p:nvSpPr>
        <p:spPr>
          <a:xfrm>
            <a:off x="8412480" y="4251960"/>
            <a:ext cx="914400" cy="914400"/>
          </a:xfrm>
          <a:prstGeom prst="ellipse">
            <a:avLst/>
          </a:prstGeom>
          <a:solidFill>
            <a:srgbClr val="1B1B3A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35924" y="4375404"/>
            <a:ext cx="667512" cy="66751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909560" y="527608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Literacy +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 Protection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DIFFERENT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Unique Value &amp; Differentiators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73736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811" y="1823771"/>
            <a:ext cx="467258" cy="4672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1655064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Localized, Multi-Lingual AI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754880" y="1655064"/>
            <a:ext cx="6583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knowledge of regional schemes, vernacular language support, and culturally aware responses.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2679192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2816352"/>
            <a:ext cx="640080" cy="640080"/>
          </a:xfrm>
          <a:prstGeom prst="ellipse">
            <a:avLst/>
          </a:prstGeom>
          <a:solidFill>
            <a:srgbClr val="D2503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811" y="2902763"/>
            <a:ext cx="467258" cy="46725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74520" y="2734056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Agent Architecture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754880" y="2734056"/>
            <a:ext cx="6583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components — reminders, RAG toolkit, authentication — accelerate development and scaling.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3758184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3895344"/>
            <a:ext cx="640080" cy="640080"/>
          </a:xfrm>
          <a:prstGeom prst="ellipse">
            <a:avLst/>
          </a:prstGeom>
          <a:solidFill>
            <a:srgbClr val="3F8C8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811" y="3981755"/>
            <a:ext cx="467258" cy="46725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3813048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Low-Friction Experience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4754880" y="3813048"/>
            <a:ext cx="6583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Voice-first, simple flows for seniors and low-literacy users, plus advanced features for power users.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" y="4837176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4400" y="4974336"/>
            <a:ext cx="640080" cy="640080"/>
          </a:xfrm>
          <a:prstGeom prst="ellipse">
            <a:avLst/>
          </a:prstGeom>
          <a:solidFill>
            <a:srgbClr val="6759A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811" y="5060747"/>
            <a:ext cx="467258" cy="46725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874520" y="4892040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Impact-Focused Design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4754880" y="4892040"/>
            <a:ext cx="6583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raise scheme uptake, improve SME efficiency, cut missed medications, and boost student outcomes.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Saarthi Works Under the Hood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1627632" cy="1828800"/>
          </a:xfrm>
          <a:prstGeom prst="roundRect">
            <a:avLst>
              <a:gd name="adj" fmla="val 4494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3856" y="2999232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0267" y="3085643"/>
            <a:ext cx="467258" cy="4672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4944" y="3767328"/>
            <a:ext cx="1517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295144" y="3337560"/>
            <a:ext cx="146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468880" y="2743200"/>
            <a:ext cx="1627632" cy="1828800"/>
          </a:xfrm>
          <a:prstGeom prst="roundRect">
            <a:avLst>
              <a:gd name="adj" fmla="val 4494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962656" y="2999232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9067" y="3085643"/>
            <a:ext cx="467258" cy="46725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23744" y="3767328"/>
            <a:ext cx="1517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</a:t>
            </a:r>
            <a:endParaRPr lang="en-US" sz="11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123944" y="3337560"/>
            <a:ext cx="146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4" name="Shape 10"/>
          <p:cNvSpPr/>
          <p:nvPr/>
        </p:nvSpPr>
        <p:spPr>
          <a:xfrm>
            <a:off x="4297680" y="2743200"/>
            <a:ext cx="1627632" cy="1828800"/>
          </a:xfrm>
          <a:prstGeom prst="roundRect">
            <a:avLst>
              <a:gd name="adj" fmla="val 4494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791456" y="2999232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7867" y="3085643"/>
            <a:ext cx="467258" cy="46725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352544" y="3767328"/>
            <a:ext cx="1517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1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952744" y="3337560"/>
            <a:ext cx="146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9" name="Shape 14"/>
          <p:cNvSpPr/>
          <p:nvPr/>
        </p:nvSpPr>
        <p:spPr>
          <a:xfrm>
            <a:off x="6126480" y="2743200"/>
            <a:ext cx="1627632" cy="1828800"/>
          </a:xfrm>
          <a:prstGeom prst="roundRect">
            <a:avLst>
              <a:gd name="adj" fmla="val 4494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620256" y="2999232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6667" y="3085643"/>
            <a:ext cx="467258" cy="46725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181344" y="3767328"/>
            <a:ext cx="1517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</a:t>
            </a:r>
            <a:endParaRPr lang="en-US" sz="11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7781544" y="3337560"/>
            <a:ext cx="146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4" name="Shape 18"/>
          <p:cNvSpPr/>
          <p:nvPr/>
        </p:nvSpPr>
        <p:spPr>
          <a:xfrm>
            <a:off x="7955280" y="2743200"/>
            <a:ext cx="1627632" cy="1828800"/>
          </a:xfrm>
          <a:prstGeom prst="roundRect">
            <a:avLst>
              <a:gd name="adj" fmla="val 4494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449056" y="2999232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5467" y="3085643"/>
            <a:ext cx="467258" cy="46725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010144" y="3767328"/>
            <a:ext cx="1517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+</a:t>
            </a:r>
            <a:endParaRPr lang="en-US" sz="11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Engine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9610344" y="3337560"/>
            <a:ext cx="146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9" name="Shape 22"/>
          <p:cNvSpPr/>
          <p:nvPr/>
        </p:nvSpPr>
        <p:spPr>
          <a:xfrm>
            <a:off x="9784080" y="2743200"/>
            <a:ext cx="1627632" cy="1828800"/>
          </a:xfrm>
          <a:prstGeom prst="roundRect">
            <a:avLst>
              <a:gd name="adj" fmla="val 4494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10277856" y="2999232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4267" y="3085643"/>
            <a:ext cx="467258" cy="46725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838944" y="3767328"/>
            <a:ext cx="1517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&amp; Mobile</a:t>
            </a:r>
            <a:endParaRPr lang="en-US" sz="11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640080" y="50749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7C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conversational entry point routes every request through the right persona agent, grounds answers in verified knowledge, and delivers guidance back through voice or mobile.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87752" cy="4114800"/>
          </a:xfrm>
          <a:prstGeom prst="roundRect">
            <a:avLst>
              <a:gd name="adj" fmla="val 3534"/>
            </a:avLst>
          </a:prstGeom>
          <a:solidFill>
            <a:srgbClr val="F5F4FB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13916" y="1984248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0327" y="2070659"/>
            <a:ext cx="467258" cy="4672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807208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UX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96112" y="3474720"/>
            <a:ext cx="213055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5B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TailwindCSS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5B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Web App + Android client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5B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Voice-first, English + Indian languages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47288" y="1691640"/>
            <a:ext cx="2587752" cy="4114800"/>
          </a:xfrm>
          <a:prstGeom prst="roundRect">
            <a:avLst>
              <a:gd name="adj" fmla="val 3534"/>
            </a:avLst>
          </a:prstGeom>
          <a:solidFill>
            <a:srgbClr val="F5F4FB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21124" y="1984248"/>
            <a:ext cx="640080" cy="640080"/>
          </a:xfrm>
          <a:prstGeom prst="ellipse">
            <a:avLst/>
          </a:prstGeom>
          <a:solidFill>
            <a:srgbClr val="D2503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7535" y="2070659"/>
            <a:ext cx="467258" cy="46725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2807208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Backend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703320" y="3474720"/>
            <a:ext cx="213055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5B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Express.js, PostgreSQL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5B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Serverless-ready (AWS / GCP / Azure)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5B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microservices · Vercel, Railway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54496" y="1691640"/>
            <a:ext cx="2587752" cy="4114800"/>
          </a:xfrm>
          <a:prstGeom prst="roundRect">
            <a:avLst>
              <a:gd name="adj" fmla="val 3534"/>
            </a:avLst>
          </a:prstGeom>
          <a:solidFill>
            <a:srgbClr val="F5F4FB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28332" y="1984248"/>
            <a:ext cx="640080" cy="640080"/>
          </a:xfrm>
          <a:prstGeom prst="ellipse">
            <a:avLst/>
          </a:prstGeom>
          <a:solidFill>
            <a:srgbClr val="3F8C8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4743" y="2070659"/>
            <a:ext cx="467258" cy="46725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19088" y="2807208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ML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510528" y="3474720"/>
            <a:ext cx="213055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5B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+ transformer-based NLP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5B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against verified datasets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5B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 for voice assistance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061704" y="1691640"/>
            <a:ext cx="2587752" cy="4114800"/>
          </a:xfrm>
          <a:prstGeom prst="roundRect">
            <a:avLst>
              <a:gd name="adj" fmla="val 3534"/>
            </a:avLst>
          </a:prstGeom>
          <a:solidFill>
            <a:srgbClr val="F5F4FB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035540" y="1984248"/>
            <a:ext cx="640080" cy="640080"/>
          </a:xfrm>
          <a:prstGeom prst="ellipse">
            <a:avLst/>
          </a:prstGeom>
          <a:solidFill>
            <a:srgbClr val="6759A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1951" y="2070659"/>
            <a:ext cx="467258" cy="46725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26296" y="2807208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317736" y="3474720"/>
            <a:ext cx="213055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5B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encryption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5B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5B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Privacy-first, local data residency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QUESTION TO OUTCOME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Journey — Amma Saarthi in Action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897380" y="3589020"/>
            <a:ext cx="910742" cy="0"/>
          </a:xfrm>
          <a:prstGeom prst="line">
            <a:avLst/>
          </a:prstGeom>
          <a:noFill/>
          <a:ln w="19050">
            <a:solidFill>
              <a:srgbClr val="E8A33D"/>
            </a:solidFill>
            <a:prstDash val="sysDot"/>
          </a:ln>
        </p:spPr>
      </p:sp>
      <p:sp>
        <p:nvSpPr>
          <p:cNvPr id="5" name="Shape 3"/>
          <p:cNvSpPr/>
          <p:nvPr/>
        </p:nvSpPr>
        <p:spPr>
          <a:xfrm>
            <a:off x="3768242" y="3589020"/>
            <a:ext cx="910742" cy="0"/>
          </a:xfrm>
          <a:prstGeom prst="line">
            <a:avLst/>
          </a:prstGeom>
          <a:noFill/>
          <a:ln w="19050">
            <a:solidFill>
              <a:srgbClr val="E8A33D"/>
            </a:solidFill>
            <a:prstDash val="sysDot"/>
          </a:ln>
        </p:spPr>
      </p:sp>
      <p:sp>
        <p:nvSpPr>
          <p:cNvPr id="6" name="Shape 4"/>
          <p:cNvSpPr/>
          <p:nvPr/>
        </p:nvSpPr>
        <p:spPr>
          <a:xfrm>
            <a:off x="5639105" y="3589020"/>
            <a:ext cx="910742" cy="0"/>
          </a:xfrm>
          <a:prstGeom prst="line">
            <a:avLst/>
          </a:prstGeom>
          <a:noFill/>
          <a:ln w="19050">
            <a:solidFill>
              <a:srgbClr val="E8A33D"/>
            </a:solidFill>
            <a:prstDash val="sysDot"/>
          </a:ln>
        </p:spPr>
      </p:sp>
      <p:sp>
        <p:nvSpPr>
          <p:cNvPr id="7" name="Shape 5"/>
          <p:cNvSpPr/>
          <p:nvPr/>
        </p:nvSpPr>
        <p:spPr>
          <a:xfrm>
            <a:off x="7509967" y="3589020"/>
            <a:ext cx="910742" cy="0"/>
          </a:xfrm>
          <a:prstGeom prst="line">
            <a:avLst/>
          </a:prstGeom>
          <a:noFill/>
          <a:ln w="19050">
            <a:solidFill>
              <a:srgbClr val="E8A33D"/>
            </a:solidFill>
            <a:prstDash val="sysDot"/>
          </a:ln>
        </p:spPr>
      </p:sp>
      <p:sp>
        <p:nvSpPr>
          <p:cNvPr id="8" name="Shape 6"/>
          <p:cNvSpPr/>
          <p:nvPr/>
        </p:nvSpPr>
        <p:spPr>
          <a:xfrm>
            <a:off x="9380830" y="3589020"/>
            <a:ext cx="910742" cy="0"/>
          </a:xfrm>
          <a:prstGeom prst="line">
            <a:avLst/>
          </a:prstGeom>
          <a:noFill/>
          <a:ln w="19050">
            <a:solidFill>
              <a:srgbClr val="E8A33D"/>
            </a:solidFill>
            <a:prstDash val="sysDot"/>
          </a:ln>
        </p:spPr>
      </p:sp>
      <p:sp>
        <p:nvSpPr>
          <p:cNvPr id="9" name="Shape 7"/>
          <p:cNvSpPr/>
          <p:nvPr/>
        </p:nvSpPr>
        <p:spPr>
          <a:xfrm>
            <a:off x="850392" y="2542032"/>
            <a:ext cx="1133856" cy="11338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37260" y="2628900"/>
            <a:ext cx="960120" cy="960120"/>
          </a:xfrm>
          <a:prstGeom prst="ellipse">
            <a:avLst/>
          </a:prstGeom>
          <a:solidFill>
            <a:srgbClr val="1B1B3A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76" y="2758516"/>
            <a:ext cx="700888" cy="70088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2240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2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48640" y="382219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App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2721254" y="2542032"/>
            <a:ext cx="1133856" cy="11338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808122" y="2628900"/>
            <a:ext cx="960120" cy="960120"/>
          </a:xfrm>
          <a:prstGeom prst="ellipse">
            <a:avLst/>
          </a:prstGeom>
          <a:solidFill>
            <a:srgbClr val="1B1B3A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7739" y="2758516"/>
            <a:ext cx="700888" cy="70088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693822" y="2240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2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419502" y="382219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Mode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4592117" y="2542032"/>
            <a:ext cx="1133856" cy="11338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678985" y="2628900"/>
            <a:ext cx="960120" cy="960120"/>
          </a:xfrm>
          <a:prstGeom prst="ellipse">
            <a:avLst/>
          </a:prstGeom>
          <a:solidFill>
            <a:srgbClr val="1B1B3A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8601" y="2758516"/>
            <a:ext cx="700888" cy="70088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564685" y="2240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2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4290365" y="382219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in Local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6462979" y="2542032"/>
            <a:ext cx="1133856" cy="11338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549847" y="2628900"/>
            <a:ext cx="960120" cy="960120"/>
          </a:xfrm>
          <a:prstGeom prst="ellipse">
            <a:avLst/>
          </a:prstGeom>
          <a:solidFill>
            <a:srgbClr val="1B1B3A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9463" y="2758516"/>
            <a:ext cx="700888" cy="70088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435547" y="2240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2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6161227" y="382219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Finds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8333842" y="2542032"/>
            <a:ext cx="1133856" cy="11338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8420710" y="2628900"/>
            <a:ext cx="960120" cy="960120"/>
          </a:xfrm>
          <a:prstGeom prst="ellipse">
            <a:avLst/>
          </a:prstGeom>
          <a:solidFill>
            <a:srgbClr val="1B1B3A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0326" y="2758516"/>
            <a:ext cx="700888" cy="70088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8306410" y="2240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2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8032090" y="382219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10204704" y="2542032"/>
            <a:ext cx="1133856" cy="11338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10291572" y="2628900"/>
            <a:ext cx="960120" cy="960120"/>
          </a:xfrm>
          <a:prstGeom prst="ellipse">
            <a:avLst/>
          </a:prstGeom>
          <a:solidFill>
            <a:srgbClr val="1B1B3A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1188" y="2758516"/>
            <a:ext cx="700888" cy="700888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177272" y="2240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2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50" dirty="0"/>
          </a:p>
        </p:txBody>
      </p:sp>
      <p:sp>
        <p:nvSpPr>
          <p:cNvPr id="38" name="Text 30"/>
          <p:cNvSpPr/>
          <p:nvPr/>
        </p:nvSpPr>
        <p:spPr>
          <a:xfrm>
            <a:off x="9902952" y="382219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AT SCALE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Impact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10,000+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Users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66060" y="16459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759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766060" y="2286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Supported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74920" y="16459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2,000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074920" y="2286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Recommendations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83780" y="16459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25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383780" y="2286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Assisted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92640" y="16459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F8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9692640" y="2286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Seniors Benefited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3154680"/>
            <a:ext cx="10515600" cy="0"/>
          </a:xfrm>
          <a:prstGeom prst="line">
            <a:avLst/>
          </a:prstGeom>
          <a:noFill/>
          <a:ln w="12700">
            <a:solidFill>
              <a:srgbClr val="E4E2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3832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 TRACKED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886200"/>
            <a:ext cx="2587752" cy="1691640"/>
          </a:xfrm>
          <a:prstGeom prst="roundRect">
            <a:avLst>
              <a:gd name="adj" fmla="val 5405"/>
            </a:avLst>
          </a:prstGeom>
          <a:solidFill>
            <a:srgbClr val="F5F4FB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641348" y="4114800"/>
            <a:ext cx="585216" cy="585216"/>
          </a:xfrm>
          <a:prstGeom prst="ellipse">
            <a:avLst/>
          </a:prstGeom>
          <a:solidFill>
            <a:srgbClr val="1B1B3A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0352" y="4193804"/>
            <a:ext cx="427208" cy="42720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804672" y="4800600"/>
            <a:ext cx="2258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monthly users by segment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447288" y="3886200"/>
            <a:ext cx="2587752" cy="1691640"/>
          </a:xfrm>
          <a:prstGeom prst="roundRect">
            <a:avLst>
              <a:gd name="adj" fmla="val 5405"/>
            </a:avLst>
          </a:prstGeom>
          <a:solidFill>
            <a:srgbClr val="F5F4FB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448556" y="4114800"/>
            <a:ext cx="585216" cy="585216"/>
          </a:xfrm>
          <a:prstGeom prst="ellipse">
            <a:avLst/>
          </a:prstGeom>
          <a:solidFill>
            <a:srgbClr val="1B1B3A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7560" y="4193804"/>
            <a:ext cx="427208" cy="42720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611880" y="4800600"/>
            <a:ext cx="2258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saved per task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254496" y="3886200"/>
            <a:ext cx="2587752" cy="1691640"/>
          </a:xfrm>
          <a:prstGeom prst="roundRect">
            <a:avLst>
              <a:gd name="adj" fmla="val 5405"/>
            </a:avLst>
          </a:prstGeom>
          <a:solidFill>
            <a:srgbClr val="F5F4FB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7255764" y="4114800"/>
            <a:ext cx="585216" cy="585216"/>
          </a:xfrm>
          <a:prstGeom prst="ellipse">
            <a:avLst/>
          </a:prstGeom>
          <a:solidFill>
            <a:srgbClr val="1B1B3A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768" y="4193804"/>
            <a:ext cx="427208" cy="42720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419088" y="4800600"/>
            <a:ext cx="2258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scheme enrollments assisted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9061704" y="3886200"/>
            <a:ext cx="2587752" cy="1691640"/>
          </a:xfrm>
          <a:prstGeom prst="roundRect">
            <a:avLst>
              <a:gd name="adj" fmla="val 5405"/>
            </a:avLst>
          </a:prstGeom>
          <a:solidFill>
            <a:srgbClr val="F5F4FB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10062972" y="4114800"/>
            <a:ext cx="585216" cy="585216"/>
          </a:xfrm>
          <a:prstGeom prst="ellipse">
            <a:avLst/>
          </a:prstGeom>
          <a:solidFill>
            <a:srgbClr val="1B1B3A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1976" y="4193804"/>
            <a:ext cx="427208" cy="42720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226296" y="4800600"/>
            <a:ext cx="2258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missed medication events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640080" y="62636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KPIs tracked with privacy-preserving analytics and consented telemetry.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TO SCALE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377440" y="2240280"/>
            <a:ext cx="1813560" cy="0"/>
          </a:xfrm>
          <a:prstGeom prst="line">
            <a:avLst/>
          </a:prstGeom>
          <a:noFill/>
          <a:ln w="15875">
            <a:solidFill>
              <a:srgbClr val="8C8AA0"/>
            </a:solidFill>
            <a:prstDash val="sysDot"/>
          </a:ln>
        </p:spPr>
      </p:sp>
      <p:sp>
        <p:nvSpPr>
          <p:cNvPr id="5" name="Shape 3"/>
          <p:cNvSpPr/>
          <p:nvPr/>
        </p:nvSpPr>
        <p:spPr>
          <a:xfrm>
            <a:off x="5196840" y="2240280"/>
            <a:ext cx="1813560" cy="0"/>
          </a:xfrm>
          <a:prstGeom prst="line">
            <a:avLst/>
          </a:prstGeom>
          <a:noFill/>
          <a:ln w="15875">
            <a:solidFill>
              <a:srgbClr val="8C8AA0"/>
            </a:solidFill>
            <a:prstDash val="sysDot"/>
          </a:ln>
        </p:spPr>
      </p:sp>
      <p:sp>
        <p:nvSpPr>
          <p:cNvPr id="6" name="Shape 4"/>
          <p:cNvSpPr/>
          <p:nvPr/>
        </p:nvSpPr>
        <p:spPr>
          <a:xfrm>
            <a:off x="8016240" y="2240280"/>
            <a:ext cx="1813560" cy="0"/>
          </a:xfrm>
          <a:prstGeom prst="line">
            <a:avLst/>
          </a:prstGeom>
          <a:noFill/>
          <a:ln w="15875">
            <a:solidFill>
              <a:srgbClr val="8C8AA0"/>
            </a:solidFill>
            <a:prstDash val="sysDot"/>
          </a:ln>
        </p:spPr>
      </p:sp>
      <p:sp>
        <p:nvSpPr>
          <p:cNvPr id="7" name="Shape 5"/>
          <p:cNvSpPr/>
          <p:nvPr/>
        </p:nvSpPr>
        <p:spPr>
          <a:xfrm>
            <a:off x="1371600" y="1737360"/>
            <a:ext cx="1005840" cy="10058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7388" y="1873148"/>
            <a:ext cx="734263" cy="73426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13716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31520" y="2971800"/>
            <a:ext cx="2286000" cy="2331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68680" y="3154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68680" y="370332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NLU engine and smart reminders — the foundational platform build.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191000" y="1737360"/>
            <a:ext cx="1005840" cy="1005840"/>
          </a:xfrm>
          <a:prstGeom prst="ellipse">
            <a:avLst/>
          </a:prstGeom>
          <a:solidFill>
            <a:srgbClr val="D2503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6788" y="1873148"/>
            <a:ext cx="734263" cy="73426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11040" y="13716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2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3550920" y="2971800"/>
            <a:ext cx="2286000" cy="2331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3688080" y="3154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Personalization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3688080" y="370332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agent features and RAG-powered, scheme-aware guidance.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7010400" y="1737360"/>
            <a:ext cx="1005840" cy="1005840"/>
          </a:xfrm>
          <a:prstGeom prst="ellipse">
            <a:avLst/>
          </a:prstGeom>
          <a:solidFill>
            <a:srgbClr val="3F8C82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6188" y="1873148"/>
            <a:ext cx="734263" cy="73426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330440" y="13716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370320" y="2971800"/>
            <a:ext cx="2286000" cy="2331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6507480" y="3154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Testing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6507480" y="370332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across 3 communities, 50 SMEs, and 200 students.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9829800" y="1737360"/>
            <a:ext cx="1005840" cy="1005840"/>
          </a:xfrm>
          <a:prstGeom prst="ellipse">
            <a:avLst/>
          </a:prstGeom>
          <a:solidFill>
            <a:srgbClr val="6759A8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5588" y="1873148"/>
            <a:ext cx="734263" cy="734263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149840" y="13716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75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9189720" y="2971800"/>
            <a:ext cx="2286000" cy="2331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9326880" y="3154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State-wide Expansion</a:t>
            </a:r>
            <a:endParaRPr lang="en-US" sz="1450" dirty="0"/>
          </a:p>
        </p:txBody>
      </p:sp>
      <p:sp>
        <p:nvSpPr>
          <p:cNvPr id="30" name="Text 24"/>
          <p:cNvSpPr/>
          <p:nvPr/>
        </p:nvSpPr>
        <p:spPr>
          <a:xfrm>
            <a:off x="9326880" y="370332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up with partner integrations across the state.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&amp; Mitigations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5F4FB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6596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935" y="2042495"/>
            <a:ext cx="413857" cy="41385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4767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Risk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56032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Curated, verified government sources; source-attributed RAG; human-in-the-loop validation.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5F4FB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1965960"/>
            <a:ext cx="566928" cy="566928"/>
          </a:xfrm>
          <a:prstGeom prst="ellipse">
            <a:avLst/>
          </a:prstGeom>
          <a:solidFill>
            <a:srgbClr val="D2503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495" y="2042495"/>
            <a:ext cx="413857" cy="41385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94767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Challenges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37960" y="256032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D2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interfaces, local partnerships, simple onboarding, and pilot feedback loops.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97764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5F4FB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251960"/>
            <a:ext cx="566928" cy="566928"/>
          </a:xfrm>
          <a:prstGeom prst="ellipse">
            <a:avLst/>
          </a:prstGeom>
          <a:solidFill>
            <a:srgbClr val="3F8C8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935" y="4328495"/>
            <a:ext cx="413857" cy="41385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23367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Compliance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914400" y="484632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F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data retention, opt-in telemetry, encryption, and local legal review.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63640" y="397764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5F4FB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7960" y="4251960"/>
            <a:ext cx="566928" cy="566928"/>
          </a:xfrm>
          <a:prstGeom prst="ellipse">
            <a:avLst/>
          </a:prstGeom>
          <a:solidFill>
            <a:srgbClr val="6759A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495" y="4328495"/>
            <a:ext cx="413857" cy="41385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423367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537960" y="484632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75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Microservices, serverless scaling, caching, and edge-friendly features.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38648" y="868680"/>
            <a:ext cx="914400" cy="9144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1528" y="105156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14884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Platform. Four Personas.</a:t>
            </a:r>
            <a:endParaRPr lang="en-US" sz="3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Infinite Possibilities.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547208" y="3520440"/>
            <a:ext cx="1097280" cy="0"/>
          </a:xfrm>
          <a:prstGeom prst="line">
            <a:avLst/>
          </a:prstGeom>
          <a:noFill/>
          <a:ln w="19050">
            <a:solidFill>
              <a:srgbClr val="E8A3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981048" y="3794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Mission: Make digital services and opportunities accessible to every Indian citizen through AI.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0" y="626364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C7C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Saarthi AI  ·  Bharat Academix CodeQuest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Saarthi AI — India's Personalized Digital Companion</dc:title>
  <dc:subject>PptxGenJS Presentation</dc:subject>
  <dc:creator>Saarthi AI</dc:creator>
  <cp:lastModifiedBy>Saarthi AI</cp:lastModifiedBy>
  <cp:revision>1</cp:revision>
  <dcterms:created xsi:type="dcterms:W3CDTF">2026-06-18T14:20:34Z</dcterms:created>
  <dcterms:modified xsi:type="dcterms:W3CDTF">2026-06-18T14:20:34Z</dcterms:modified>
</cp:coreProperties>
</file>